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41080" y="777240"/>
            <a:ext cx="2468880" cy="5303520"/>
          </a:xfrm>
          <a:prstGeom prst="roundRect">
            <a:avLst>
              <a:gd name="adj" fmla="val 8000"/>
            </a:avLst>
          </a:prstGeom>
          <a:solidFill>
            <a:srgbClr val="0E1D2F"/>
          </a:solidFill>
          <a:ln>
            <a:solidFill>
              <a:srgbClr val="B7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42832" y="1234440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B7EBDC"/>
                </a:solidFill>
                <a:latin typeface="Aptos"/>
              </a:rPr>
              <a:t>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4232" y="1874519"/>
            <a:ext cx="2286000" cy="7772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26,54%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1392" y="27432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B7EBDC"/>
                </a:solidFill>
                <a:latin typeface="Aptos"/>
              </a:rPr>
              <a:t>prevalência observada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3657600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3703320"/>
            <a:ext cx="178308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0E1D2F"/>
                </a:solidFill>
                <a:latin typeface="Aptos"/>
              </a:rPr>
              <a:t>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160520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E1D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206240"/>
            <a:ext cx="178308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MODELOS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663440"/>
            <a:ext cx="1783080" cy="310896"/>
          </a:xfrm>
          <a:prstGeom prst="roundRect">
            <a:avLst>
              <a:gd name="adj" fmla="val 8000"/>
            </a:avLst>
          </a:prstGeom>
          <a:solidFill>
            <a:srgbClr val="0E1D2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709160"/>
            <a:ext cx="1783080" cy="16459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34440"/>
            <a:ext cx="6675120" cy="1234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Predição de churn
para retenção de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88920"/>
            <a:ext cx="594360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0">
                <a:solidFill>
                  <a:srgbClr val="B7EBDC"/>
                </a:solidFill>
                <a:latin typeface="Aptos"/>
              </a:rPr>
              <a:t>Apresentação da análise revisada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67328"/>
            <a:ext cx="621792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Um pipeline de Machine Learning: exploração, comparação de modelos, inferência e documentação.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53328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B7EBDC"/>
                </a:solidFill>
                <a:latin typeface="Aptos"/>
              </a:rPr>
              <a:t>23/08/2026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 Display"/>
              </a:rPr>
              <a:t>O projeto percorre o ciclo completo de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697885"/>
                </a:solidFill>
                <a:latin typeface="Aptos"/>
              </a:rPr>
              <a:t>FIAP Pós-Tech  |  Tech Challenge Fase 1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02336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697885"/>
                </a:solidFill>
                <a:latin typeface="Aptos"/>
              </a:rPr>
              <a:t>Status consolidado da entrega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4505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50292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009196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97480"/>
            <a:ext cx="20574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F2D3D"/>
                </a:solidFill>
                <a:latin typeface="Aptos"/>
              </a:rPr>
              <a:t>Entendimento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697885"/>
                </a:solidFill>
                <a:latin typeface="Aptos"/>
              </a:rPr>
              <a:t>EDA, qualidade dos dados, métricas e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3858768"/>
            <a:ext cx="502920" cy="64008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965960"/>
            <a:ext cx="24505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148840"/>
            <a:ext cx="50292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EF8B48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697480"/>
            <a:ext cx="20574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F2D3D"/>
                </a:solidFill>
                <a:latin typeface="Aptos"/>
              </a:rPr>
              <a:t>Modelagem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154680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697885"/>
                </a:solidFill>
                <a:latin typeface="Aptos"/>
              </a:rPr>
              <a:t>RF, MLP, validação cruzada e comparação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1024" y="3858768"/>
            <a:ext cx="502920" cy="64008"/>
          </a:xfrm>
          <a:prstGeom prst="rect">
            <a:avLst/>
          </a:prstGeom>
          <a:solidFill>
            <a:srgbClr val="EF8B48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784" y="1965960"/>
            <a:ext cx="24505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148840"/>
            <a:ext cx="50292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009196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0574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F2D3D"/>
                </a:solidFill>
                <a:latin typeface="Aptos"/>
              </a:rPr>
              <a:t>Engenharia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154680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697885"/>
                </a:solidFill>
                <a:latin typeface="Aptos"/>
              </a:rPr>
              <a:t>Pipeline modular, FastAPI e testes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7376" y="3858768"/>
            <a:ext cx="502920" cy="64008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965960"/>
            <a:ext cx="24505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148840"/>
            <a:ext cx="50292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EF8B48"/>
                </a:solidFill>
                <a:latin typeface="Aptos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697480"/>
            <a:ext cx="20574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1F2D3D"/>
                </a:solidFill>
                <a:latin typeface="Aptos"/>
              </a:rP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154680"/>
            <a:ext cx="2057400" cy="6858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0">
                <a:solidFill>
                  <a:srgbClr val="697885"/>
                </a:solidFill>
                <a:latin typeface="Aptos"/>
              </a:rPr>
              <a:t>Model Card, README e roteiro STAR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53728" y="3858768"/>
            <a:ext cx="502920" cy="64008"/>
          </a:xfrm>
          <a:prstGeom prst="rect">
            <a:avLst/>
          </a:prstGeom>
          <a:solidFill>
            <a:srgbClr val="EF8B48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300" b="1">
                <a:solidFill>
                  <a:srgbClr val="009196"/>
                </a:solidFill>
                <a:latin typeface="Aptos"/>
              </a:rPr>
              <a:t>Leitura executiva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30368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ptos"/>
              </a:rPr>
              <a:t>A fundação técnica está estruturada. A análise foi corrigida para ser reproduzível, mas as células e os resultados finais ainda precisam ser reexecutados no ambiente com o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B7EBDC"/>
                </a:solidFill>
                <a:latin typeface="Aptos"/>
              </a:rPr>
              <a:t>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O problema de negócio orienta a priorização de retenção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B7EBDC"/>
                </a:solidFill>
                <a:latin typeface="Aptos"/>
              </a:rPr>
              <a:t>FIAP Pós-Tech  |  Tech Challenge Fase 1  |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20640" cy="434340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B7EBDC"/>
                </a:solidFill>
                <a:latin typeface="Aptos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251960" cy="7772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Quais clientes têm maior propensão a cancelar?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19202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EF8B48"/>
                </a:solidFill>
                <a:latin typeface="Aptos"/>
              </a:rPr>
              <a:t>Uso pretendido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4251960" cy="1234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Apoiar campanhas preventivas de retenção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Priorizar clientes para contato ou ofertas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Manter revisão humana sobre a 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4343400"/>
          </a:xfrm>
          <a:prstGeom prst="roundRect">
            <a:avLst>
              <a:gd name="adj" fmla="val 8000"/>
            </a:avLst>
          </a:prstGeom>
          <a:solidFill>
            <a:srgbClr val="B7EBDC"/>
          </a:solidFill>
          <a:ln>
            <a:solidFill>
              <a:srgbClr val="B7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0E1D2F"/>
                </a:solidFill>
                <a:latin typeface="Aptos"/>
              </a:rPr>
              <a:t>MÉTRICAS 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29768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0E1D2F"/>
                </a:solidFill>
                <a:latin typeface="Aptos Display"/>
              </a:rPr>
              <a:t>ROC-AUC + recall de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4297680" cy="1645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E1D2F"/>
                </a:solidFill>
                <a:latin typeface="Aptos"/>
              </a:defRPr>
            </a:pPr>
            <a:r>
              <a:t>• ROC-AUC para seleção técnica</a:t>
            </a:r>
          </a:p>
          <a:p>
            <a:pPr>
              <a:spcAft>
                <a:spcPts val="500"/>
              </a:spcAft>
              <a:defRPr sz="1500">
                <a:solidFill>
                  <a:srgbClr val="0E1D2F"/>
                </a:solidFill>
                <a:latin typeface="Aptos"/>
              </a:defRPr>
            </a:pPr>
            <a:r>
              <a:t>• Recall para reduzir falsos negativos</a:t>
            </a:r>
          </a:p>
          <a:p>
            <a:pPr>
              <a:spcAft>
                <a:spcPts val="500"/>
              </a:spcAft>
              <a:defRPr sz="1500">
                <a:solidFill>
                  <a:srgbClr val="0E1D2F"/>
                </a:solidFill>
                <a:latin typeface="Aptos"/>
              </a:defRPr>
            </a:pPr>
            <a:r>
              <a:t>• Retenção mensal como KPI de negócio</a:t>
            </a:r>
          </a:p>
          <a:p>
            <a:pPr>
              <a:spcAft>
                <a:spcPts val="500"/>
              </a:spcAft>
              <a:defRPr sz="1500">
                <a:solidFill>
                  <a:srgbClr val="0E1D2F"/>
                </a:solidFill>
                <a:latin typeface="Aptos"/>
              </a:defRPr>
            </a:pPr>
            <a:r>
              <a:t>• Custo de abordagem versus custo de perda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166360"/>
            <a:ext cx="438912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0E1D2F"/>
                </a:solidFill>
                <a:latin typeface="Aptos"/>
              </a:rPr>
              <a:t>A métrica técnica e o objetivo operacional precisam ser avaliados juntos.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 Display"/>
              </a:rPr>
              <a:t>A EDA revela um problema de churn moderadamente desbalanceado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697885"/>
                </a:solidFill>
                <a:latin typeface="Aptos"/>
              </a:rPr>
              <a:t>FIAP Pós-Tech  |  Tech Challenge Fase 1  |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697885"/>
                </a:solidFill>
                <a:latin typeface="Aptos"/>
              </a:rPr>
              <a:t>Dataset Telco Customer Churn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8562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009196"/>
                </a:solidFill>
                <a:latin typeface="Aptos Display"/>
              </a:rPr>
              <a:t>7.043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clientes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18562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1938528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EF8B48"/>
                </a:solidFill>
                <a:latin typeface="Aptos Display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colunas brutas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783080"/>
            <a:ext cx="1856231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1938528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300" b="1">
                <a:solidFill>
                  <a:srgbClr val="009196"/>
                </a:solidFill>
                <a:latin typeface="Aptos Display"/>
              </a:rPr>
              <a:t>26,54%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0">
                <a:solidFill>
                  <a:srgbClr val="697885"/>
                </a:solidFill>
                <a:latin typeface="Aptos"/>
              </a:rPr>
              <a:t>churn observado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E0EFF3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56432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Aptos"/>
              </a:rPr>
              <a:t>Padrões observados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52628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Churn: 17,98 meses de permanência média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Não churn: 37,57 meses de permanência média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Contrato mensal: 42,71% de churn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Contrato de dois anos: 2,83% de churn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FCE8D5"/>
          </a:solidFill>
          <a:ln>
            <a:solidFill>
              <a:srgbClr val="FCE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456432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Aptos"/>
              </a:rPr>
              <a:t>Qualidade e cuidados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52628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TotalCharges é convertido e linhas inválidas são removidas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customerID é removido de forma repetível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Relações são descritivas, não causais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Saídas persistidas ainda precisam de reexecução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B7EBDC"/>
                </a:solidFill>
                <a:latin typeface="Aptos"/>
              </a:rPr>
              <a:t>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O pré-processamento foi encapsulado no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B7EBDC"/>
                </a:solidFill>
                <a:latin typeface="Aptos"/>
              </a:rPr>
              <a:t>FIAP Pós-Tech  |  Tech Challenge Fase 1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B7EBDC"/>
                </a:solidFill>
                <a:latin typeface="Aptos"/>
              </a:rPr>
              <a:t>Fluxo de treinamento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1536192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009196"/>
                </a:solidFill>
                <a:latin typeface="Aptos"/>
              </a:rPr>
              <a:t>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24912"/>
            <a:ext cx="1536192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dados brutos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542032"/>
            <a:ext cx="3200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300" b="1">
                <a:solidFill>
                  <a:srgbClr val="B7EBDC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304288"/>
            <a:ext cx="1536192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EF8B48"/>
                </a:solidFill>
                <a:latin typeface="Aptos"/>
              </a:rPr>
              <a:t>Limpeza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24912"/>
            <a:ext cx="1536192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TotalCharges
+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42032"/>
            <a:ext cx="3200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300" b="1">
                <a:solidFill>
                  <a:srgbClr val="B7EBDC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057400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304288"/>
            <a:ext cx="1536192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009196"/>
                </a:solidFill>
                <a:latin typeface="Aptos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724912"/>
            <a:ext cx="1536192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70 / 30
estratificado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542032"/>
            <a:ext cx="3200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300" b="1">
                <a:solidFill>
                  <a:srgbClr val="B7EBDC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57400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2304288"/>
            <a:ext cx="1536192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EF8B48"/>
                </a:solidFill>
                <a:latin typeface="Aptos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724912"/>
            <a:ext cx="1536192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imputação
+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542032"/>
            <a:ext cx="32004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300" b="1">
                <a:solidFill>
                  <a:srgbClr val="B7EBDC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057400"/>
            <a:ext cx="1755648" cy="141732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2304288"/>
            <a:ext cx="1536192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009196"/>
                </a:solidFill>
                <a:latin typeface="Aptos"/>
              </a:rPr>
              <a:t>Modelo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724912"/>
            <a:ext cx="1536192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Logística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B7EBDC"/>
          </a:solidFill>
          <a:ln>
            <a:solidFill>
              <a:srgbClr val="B7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16552"/>
            <a:ext cx="12344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0E1D2F"/>
                </a:solidFill>
                <a:latin typeface="Aptos"/>
              </a:rPr>
              <a:t>Validação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370832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0E1D2F"/>
                </a:solidFill>
                <a:latin typeface="Aptos"/>
              </a:rPr>
              <a:t>5 folds com ROC-AUC e pré-processamento ajustado dentro do Pipeline, reduzindo risco de vazamento.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6052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4B3030"/>
          </a:solidFill>
          <a:ln>
            <a:solidFill>
              <a:srgbClr val="B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16552"/>
            <a:ext cx="105156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1">
                <a:solidFill>
                  <a:srgbClr val="FCE8D5"/>
                </a:solidFill>
                <a:latin typeface="Aptos"/>
              </a:rPr>
              <a:t>Escolha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370832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MLP vence por apenas 0,0004 em ROC-AUC médio; a diferença não demonstra superioridade prática clara.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 Display"/>
              </a:rPr>
              <a:t>A decisão do modelo depende do objetivo da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697885"/>
                </a:solidFill>
                <a:latin typeface="Aptos"/>
              </a:rPr>
              <a:t>FIAP Pós-Tech  |  Tech Challenge Fase 1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400" b="0">
                <a:solidFill>
                  <a:srgbClr val="697885"/>
                </a:solidFill>
                <a:latin typeface="Aptos"/>
              </a:rPr>
              <a:t>Validação cruzada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743200" cy="502920"/>
          </a:xfrm>
          <a:prstGeom prst="rect">
            <a:avLst/>
          </a:prstGeom>
          <a:solidFill>
            <a:srgbClr val="0E1D2F"/>
          </a:solidFill>
          <a:ln>
            <a:solidFill>
              <a:srgbClr val="0E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975104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011680" cy="502920"/>
          </a:xfrm>
          <a:prstGeom prst="rect">
            <a:avLst/>
          </a:prstGeom>
          <a:solidFill>
            <a:srgbClr val="0E1D2F"/>
          </a:solidFill>
          <a:ln>
            <a:solidFill>
              <a:srgbClr val="0E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975104"/>
            <a:ext cx="186537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ROC-AUC 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828800"/>
            <a:ext cx="5760720" cy="502920"/>
          </a:xfrm>
          <a:prstGeom prst="rect">
            <a:avLst/>
          </a:prstGeom>
          <a:solidFill>
            <a:srgbClr val="0E1D2F"/>
          </a:solidFill>
          <a:ln>
            <a:solidFill>
              <a:srgbClr val="0E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1975104"/>
            <a:ext cx="561441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9152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2505456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1F2D3D"/>
                </a:solidFill>
                <a:latin typeface="Aptos"/>
              </a:rPr>
              <a:t>MLP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359152"/>
            <a:ext cx="2011680" cy="530352"/>
          </a:xfrm>
          <a:prstGeom prst="rect">
            <a:avLst/>
          </a:prstGeom>
          <a:solidFill>
            <a:srgbClr val="B7EBDC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505456"/>
            <a:ext cx="186537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1F2D3D"/>
                </a:solidFill>
                <a:latin typeface="Aptos"/>
              </a:rPr>
              <a:t>0,8481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359152"/>
            <a:ext cx="5760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2505456"/>
            <a:ext cx="561441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Aptos"/>
              </a:rPr>
              <a:t>registrada no CSV modular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26080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3072384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1F2D3D"/>
                </a:solidFill>
                <a:latin typeface="Aptos"/>
              </a:rPr>
              <a:t>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926080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072384"/>
            <a:ext cx="186537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Aptos"/>
              </a:rPr>
              <a:t>0,8477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926080"/>
            <a:ext cx="5760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3072384"/>
            <a:ext cx="561441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Aptos"/>
              </a:rPr>
              <a:t>registrada no CSV modular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93008"/>
            <a:ext cx="2743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3639312"/>
            <a:ext cx="259689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1F2D3D"/>
                </a:solidFill>
                <a:latin typeface="Aptos"/>
              </a:rPr>
              <a:t>Logística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493008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3639312"/>
            <a:ext cx="186537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Aptos"/>
              </a:rPr>
              <a:t>0,8456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3493008"/>
            <a:ext cx="57607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8112" y="3639312"/>
            <a:ext cx="5614416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Aptos"/>
              </a:rPr>
              <a:t>saída histórica do notebook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009196"/>
                </a:solidFill>
                <a:latin typeface="Aptos"/>
              </a:rPr>
              <a:t>Leitura para o negócio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731520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A MLP lidera a CV por apenas 0,0004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A diferença é menor que a variabilidade dos folds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A comparação de teste depende da execução revisada</a:t>
            </a:r>
          </a:p>
          <a:p>
            <a:pPr>
              <a:spcAft>
                <a:spcPts val="500"/>
              </a:spcAft>
              <a:defRPr sz="1400">
                <a:solidFill>
                  <a:srgbClr val="1F2D3D"/>
                </a:solidFill>
                <a:latin typeface="Aptos"/>
              </a:defRPr>
            </a:pPr>
            <a:r>
              <a:t>• Próximo passo: calibrar threshold com custos reais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9476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CE8D5"/>
          </a:solidFill>
          <a:ln>
            <a:solidFill>
              <a:srgbClr val="FCE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096512"/>
            <a:ext cx="13716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1">
                <a:solidFill>
                  <a:srgbClr val="EF8B48"/>
                </a:solidFill>
                <a:latin typeface="Aptos"/>
              </a:rPr>
              <a:t>Resultado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462272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200" b="1">
                <a:solidFill>
                  <a:srgbClr val="1F2D3D"/>
                </a:solidFill>
                <a:latin typeface="Aptos Display"/>
              </a:rPr>
              <a:t>MLP selecionada
pela regra de CV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B7EBDC"/>
                </a:solidFill>
                <a:latin typeface="Aptos"/>
              </a:rPr>
              <a:t>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API transforma o modelo em um serviço consumível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B7EBDC"/>
                </a:solidFill>
                <a:latin typeface="Aptos"/>
              </a:rPr>
              <a:t>FIAP Pós-Tech  |  Tech Challenge Fase 1  |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926080" cy="402336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B7EBDC"/>
                </a:solidFill>
                <a:latin typeface="Aptos"/>
              </a:rPr>
              <a:t>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286000" cy="5943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Payload JSON
com dados do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400" b="1">
                <a:solidFill>
                  <a:srgbClr val="EF8B48"/>
                </a:solidFill>
                <a:latin typeface="Aptos"/>
              </a:rPr>
              <a:t>Bearer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B7EBDC"/>
                </a:solidFill>
                <a:latin typeface="Aptos"/>
              </a:rPr>
              <a:t>Swagger / outros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2461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800" b="1">
                <a:solidFill>
                  <a:srgbClr val="EF8B48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08760"/>
            <a:ext cx="2971800" cy="4023360"/>
          </a:xfrm>
          <a:prstGeom prst="roundRect">
            <a:avLst>
              <a:gd name="adj" fmla="val 8000"/>
            </a:avLst>
          </a:prstGeom>
          <a:solidFill>
            <a:srgbClr val="B7EBDC"/>
          </a:solidFill>
          <a:ln>
            <a:solidFill>
              <a:srgbClr val="B7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828800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0E1D2F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56032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0E1D2F"/>
                </a:solidFill>
                <a:latin typeface="Aptos"/>
              </a:rPr>
              <a:t>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15468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0E1D2F"/>
                </a:solidFill>
                <a:latin typeface="Aptos"/>
              </a:rPr>
              <a:t>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749039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800" b="1">
                <a:solidFill>
                  <a:srgbClr val="0E1D2F"/>
                </a:solidFill>
                <a:latin typeface="Aptos"/>
              </a:rPr>
              <a:t>/predict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709160"/>
            <a:ext cx="2331720" cy="4114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200" b="0">
                <a:solidFill>
                  <a:srgbClr val="0E1D2F"/>
                </a:solidFill>
                <a:latin typeface="Aptos"/>
              </a:rPr>
              <a:t>schemas + dependências +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46120"/>
            <a:ext cx="4114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800" b="1">
                <a:solidFill>
                  <a:srgbClr val="EF8B48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508760"/>
            <a:ext cx="2971800" cy="4023360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828800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100" b="1">
                <a:solidFill>
                  <a:srgbClr val="FCE8D5"/>
                </a:solidFill>
                <a:latin typeface="Aptos"/>
              </a:rPr>
              <a:t>RESPOSTA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6060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971800"/>
            <a:ext cx="2286000" cy="3840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2400" b="1">
                <a:solidFill>
                  <a:srgbClr val="EF8B48"/>
                </a:solidFill>
                <a:latin typeface="Aptos Display"/>
              </a:rPr>
              <a:t>Yes /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84048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Probabilidade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4224528"/>
            <a:ext cx="2286000" cy="384048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600" b="1">
                <a:solidFill>
                  <a:srgbClr val="B7EBDC"/>
                </a:solidFill>
                <a:latin typeface="Aptos Display"/>
              </a:rPr>
              <a:t>valor depende
do cliente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 Display"/>
              </a:rPr>
              <a:t>A documentação registra desempenho, limites e uso responsável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697885"/>
                </a:solidFill>
                <a:latin typeface="Aptos"/>
              </a:rPr>
              <a:t>FIAP Pós-Tech  |  Tech Challenge Fase 1  |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856232"/>
            <a:ext cx="109728" cy="43891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ptos Display"/>
              </a:rPr>
              <a:t>Model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56232"/>
            <a:ext cx="72694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697885"/>
                </a:solidFill>
                <a:latin typeface="Aptos"/>
              </a:rPr>
              <a:t>objetivo, dados, métricas, vieses, segurança e monitoramento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3182112"/>
            <a:ext cx="109728" cy="438912"/>
          </a:xfrm>
          <a:prstGeom prst="rect">
            <a:avLst/>
          </a:prstGeom>
          <a:solidFill>
            <a:srgbClr val="EF8B48"/>
          </a:solidFill>
          <a:ln>
            <a:solidFill>
              <a:srgbClr val="EF8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ptos Display"/>
              </a:rPr>
              <a:t>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82112"/>
            <a:ext cx="72694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697885"/>
                </a:solidFill>
                <a:latin typeface="Aptos"/>
              </a:rPr>
              <a:t>instalação, treinamento, endpoints, exemplo de payload e testes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507992"/>
            <a:ext cx="109728" cy="438912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8056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800" b="1">
                <a:solidFill>
                  <a:srgbClr val="1F2D3D"/>
                </a:solidFill>
                <a:latin typeface="Aptos Display"/>
              </a:rPr>
              <a:t>Roteiro STAR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507992"/>
            <a:ext cx="7269480" cy="36576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500" b="0">
                <a:solidFill>
                  <a:srgbClr val="697885"/>
                </a:solidFill>
                <a:latin typeface="Aptos"/>
              </a:rPr>
              <a:t>estrutura de até 5 minutos para explicar a solução e demonstrar a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FCE8D5"/>
          </a:solidFill>
          <a:ln>
            <a:solidFill>
              <a:srgbClr val="FCE8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788152"/>
            <a:ext cx="10149840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Aptos"/>
              </a:rPr>
              <a:t>A documentação está mais madura que a execução local: é necessário instalar dependências, disponibilizar o dataset, reexecutar o notebook e confirmar os artefatos `.joblib`.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B7EBDC"/>
                </a:solidFill>
                <a:latin typeface="Aptos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Seis ações fecham as lacunas da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B7EBDC"/>
                </a:solidFill>
                <a:latin typeface="Aptos"/>
              </a:rPr>
              <a:t>FIAP Pós-Tech  |  Tech Challenge Fase 1  |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746504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91639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Executar o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39112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baixar o dataset e rodar todas as células em ordem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2" y="1746504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691639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Consolidar o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039112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registrar Logística, RF e MLP no mesmo relatório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62072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099815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044952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Validar a decisão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92424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comparar teste, threshold e custos de negócio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62072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3099815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044952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Gerar artefatos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392424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treinar e confirmar model.joblib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15383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453127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98264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Ampliar testes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45736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cobrir login inválido e /predict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15383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62E44"/>
          </a:solidFill>
          <a:ln>
            <a:solidFill>
              <a:srgbClr val="315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4453127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700" b="1">
                <a:solidFill>
                  <a:srgbClr val="EF8B48"/>
                </a:solidFill>
                <a:latin typeface="Aptos Display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398264"/>
            <a:ext cx="3566160" cy="256032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Finalizar vídeo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745736"/>
            <a:ext cx="3749039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200" b="0">
                <a:solidFill>
                  <a:srgbClr val="B7EBDC"/>
                </a:solidFill>
                <a:latin typeface="Aptos"/>
              </a:rPr>
              <a:t>gravar, revisar e anexar o STAR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ctr"/>
            <a:r>
              <a:rPr sz="1700" b="1">
                <a:solidFill>
                  <a:srgbClr val="B7EBDC"/>
                </a:solidFill>
                <a:latin typeface="Aptos"/>
              </a:rPr>
              <a:t>Critério de pronto: projeto reproduzível, API demonstrável e narrativa de negócio consistente.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01752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000" b="1">
                <a:solidFill>
                  <a:srgbClr val="009196"/>
                </a:solidFill>
                <a:latin typeface="Aptos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  <a:latin typeface="Aptos Display"/>
              </a:rPr>
              <a:t>A solução já tem forma de produto; falta fechar a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6510528"/>
            <a:ext cx="3977639" cy="1828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r"/>
            <a:r>
              <a:rPr sz="900" b="0">
                <a:solidFill>
                  <a:srgbClr val="697885"/>
                </a:solidFill>
                <a:latin typeface="Aptos"/>
              </a:rPr>
              <a:t>FIAP Pós-Tech  |  Tech Challenge Fase 1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6583680" cy="4160520"/>
          </a:xfrm>
          <a:prstGeom prst="roundRect">
            <a:avLst>
              <a:gd name="adj" fmla="val 8000"/>
            </a:avLst>
          </a:prstGeom>
          <a:solidFill>
            <a:srgbClr val="0E1D2F"/>
          </a:solidFill>
          <a:ln>
            <a:solidFill>
              <a:srgbClr val="0E1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274320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B7EBDC"/>
                </a:solidFill>
                <a:latin typeface="Aptos"/>
              </a:rPr>
              <a:t>ENTREGUE ATÉ AQUI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539496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EDA documentada e achados de negócio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Pipelines de pré-processamento reprodutíveis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Random Forest e MLP comparadas por CV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API FastAPI modular com autenticação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Model Card, README e roteiro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394960" cy="3200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EF8B48"/>
                </a:solidFill>
                <a:latin typeface="Aptos"/>
              </a:rPr>
              <a:t>Status: base técnica sólida, entrega final ainda parcial.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63040"/>
            <a:ext cx="3749039" cy="4160520"/>
          </a:xfrm>
          <a:prstGeom prst="roundRect">
            <a:avLst>
              <a:gd name="adj" fmla="val 8000"/>
            </a:avLst>
          </a:prstGeom>
          <a:solidFill>
            <a:srgbClr val="B7EBDC"/>
          </a:solidFill>
          <a:ln>
            <a:solidFill>
              <a:srgbClr val="B7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1051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100" b="1">
                <a:solidFill>
                  <a:srgbClr val="0E1D2F"/>
                </a:solidFill>
                <a:latin typeface="Aptos"/>
              </a:rPr>
              <a:t>MENSAGEM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31720"/>
            <a:ext cx="2971800" cy="9601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2500" b="1">
                <a:solidFill>
                  <a:srgbClr val="0E1D2F"/>
                </a:solidFill>
                <a:latin typeface="Aptos Display"/>
              </a:rPr>
              <a:t>A melhor decisão não é apenas o maior ROC-AUC.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703320"/>
            <a:ext cx="2880360" cy="7772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0">
                <a:solidFill>
                  <a:srgbClr val="0E1D2F"/>
                </a:solidFill>
                <a:latin typeface="Aptos"/>
              </a:rPr>
              <a:t>É o modelo e o threshold que melhor equilibram retenção, custo de abordagem e revisão humana, após a reexecução do notebook.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010912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 algn="l"/>
            <a:r>
              <a:rPr sz="1600" b="1">
                <a:solidFill>
                  <a:srgbClr val="009196"/>
                </a:solidFill>
                <a:latin typeface="Aptos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