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55279" y="0"/>
            <a:ext cx="4297680" cy="6858000"/>
          </a:xfrm>
          <a:prstGeom prst="rect">
            <a:avLst/>
          </a:prstGeom>
          <a:solidFill>
            <a:srgbClr val="009196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41080" y="777240"/>
            <a:ext cx="2468880" cy="5303520"/>
          </a:xfrm>
          <a:prstGeom prst="roundRect">
            <a:avLst>
              <a:gd name="adj" fmla="val 8000"/>
            </a:avLst>
          </a:prstGeom>
          <a:solidFill>
            <a:srgbClr val="0E1D2F"/>
          </a:solidFill>
          <a:ln>
            <a:solidFill>
              <a:srgbClr val="B7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42832" y="1234440"/>
            <a:ext cx="1874519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B7EBDC"/>
                </a:solidFill>
                <a:latin typeface="Aptos"/>
              </a:rPr>
              <a:t>CHURN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4232" y="1874519"/>
            <a:ext cx="2286000" cy="7772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ptos Display"/>
              </a:rPr>
              <a:t>26,54%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1392" y="274320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B7EBDC"/>
                </a:solidFill>
                <a:latin typeface="Aptos"/>
              </a:rPr>
              <a:t>prevalência observada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65760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3703320"/>
            <a:ext cx="1783080" cy="1645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000" b="1">
                <a:solidFill>
                  <a:srgbClr val="0E1D2F"/>
                </a:solidFill>
                <a:latin typeface="Aptos"/>
              </a:rPr>
              <a:t>EDA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16052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0E1D2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4206240"/>
            <a:ext cx="1783080" cy="1645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MODELOS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466344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0E1D2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709160"/>
            <a:ext cx="1783080" cy="1645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234440"/>
            <a:ext cx="6675120" cy="1234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Predição de churn
para retenção de clientes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788920"/>
            <a:ext cx="594360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0">
                <a:solidFill>
                  <a:srgbClr val="B7EBDC"/>
                </a:solidFill>
                <a:latin typeface="Aptos"/>
              </a:rPr>
              <a:t>Apresentação das etapas realizadas até o momento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767328"/>
            <a:ext cx="6217920" cy="685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Um pipeline de Machine Learning: exploração, comparação de modelos, inferência e documentação.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053328"/>
            <a:ext cx="18288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B7EBDC"/>
                </a:solidFill>
                <a:latin typeface="Aptos"/>
              </a:rPr>
              <a:t>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009196"/>
                </a:solidFill>
                <a:latin typeface="Aptos"/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1F2D3D"/>
                </a:solidFill>
                <a:latin typeface="Aptos Display"/>
              </a:rPr>
              <a:t>O projeto percorre o ciclo completo de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697885"/>
                </a:solidFill>
                <a:latin typeface="Aptos"/>
              </a:rPr>
              <a:t>FIAP Pós-Tech  |  Tech Challenge Fase 1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697885"/>
                </a:solidFill>
                <a:latin typeface="Aptos"/>
              </a:rPr>
              <a:t>Status consolidado da entrega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45059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148840"/>
            <a:ext cx="5029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009196"/>
                </a:solidFill>
                <a:latin typeface="Aptos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697480"/>
            <a:ext cx="20574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1F2D3D"/>
                </a:solidFill>
                <a:latin typeface="Aptos"/>
              </a:rPr>
              <a:t>Entendimento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154680"/>
            <a:ext cx="2057400" cy="685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697885"/>
                </a:solidFill>
                <a:latin typeface="Aptos"/>
              </a:rPr>
              <a:t>EDA, qualidade dos dados, métricas e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" y="3858768"/>
            <a:ext cx="502920" cy="64008"/>
          </a:xfrm>
          <a:prstGeom prst="rect">
            <a:avLst/>
          </a:prstGeom>
          <a:solidFill>
            <a:srgbClr val="009196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1965960"/>
            <a:ext cx="245059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148840"/>
            <a:ext cx="5029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EF8B48"/>
                </a:solidFill>
                <a:latin typeface="Aptos Display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97480"/>
            <a:ext cx="20574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1F2D3D"/>
                </a:solidFill>
                <a:latin typeface="Aptos"/>
              </a:rPr>
              <a:t>Modelagem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3154680"/>
            <a:ext cx="2057400" cy="685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697885"/>
                </a:solidFill>
                <a:latin typeface="Aptos"/>
              </a:rPr>
              <a:t>RF, MLP, validação cruzada e comparação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21024" y="3858768"/>
            <a:ext cx="502920" cy="64008"/>
          </a:xfrm>
          <a:prstGeom prst="rect">
            <a:avLst/>
          </a:prstGeom>
          <a:solidFill>
            <a:srgbClr val="EF8B48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2784" y="1965960"/>
            <a:ext cx="245059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148840"/>
            <a:ext cx="5029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009196"/>
                </a:solidFill>
                <a:latin typeface="Aptos Display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0574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1F2D3D"/>
                </a:solidFill>
                <a:latin typeface="Aptos"/>
              </a:rPr>
              <a:t>Engenharia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154680"/>
            <a:ext cx="2057400" cy="685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697885"/>
                </a:solidFill>
                <a:latin typeface="Aptos"/>
              </a:rPr>
              <a:t>Pipeline modular, FastAPI e testes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37376" y="3858768"/>
            <a:ext cx="502920" cy="64008"/>
          </a:xfrm>
          <a:prstGeom prst="rect">
            <a:avLst/>
          </a:prstGeom>
          <a:solidFill>
            <a:srgbClr val="009196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89136" y="1965960"/>
            <a:ext cx="245059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148840"/>
            <a:ext cx="5029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EF8B48"/>
                </a:solidFill>
                <a:latin typeface="Aptos Display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2697480"/>
            <a:ext cx="20574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1F2D3D"/>
                </a:solidFill>
                <a:latin typeface="Aptos"/>
              </a:rPr>
              <a:t>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3154680"/>
            <a:ext cx="2057400" cy="685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697885"/>
                </a:solidFill>
                <a:latin typeface="Aptos"/>
              </a:rPr>
              <a:t>Model Card, README e roteiro STAR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3728" y="3858768"/>
            <a:ext cx="502920" cy="64008"/>
          </a:xfrm>
          <a:prstGeom prst="rect">
            <a:avLst/>
          </a:prstGeom>
          <a:solidFill>
            <a:srgbClr val="EF8B48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009196"/>
                </a:solidFill>
                <a:latin typeface="Aptos"/>
              </a:rPr>
              <a:t>Leitura executiva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30368"/>
            <a:ext cx="10789920" cy="5943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Aptos"/>
              </a:rPr>
              <a:t>A fundação técnica está estruturada. As principais pendências estão na consolidação experimental do baseline, na execução do ambiente e na finalização da entrega audiovisual.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B7EBDC"/>
                </a:solidFill>
                <a:latin typeface="Aptos"/>
              </a:rPr>
              <a:t>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O problema de negócio orienta a priorização de retenção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B7EBDC"/>
                </a:solidFill>
                <a:latin typeface="Aptos"/>
              </a:rPr>
              <a:t>FIAP Pós-Tech  |  Tech Challenge Fase 1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120640" cy="434340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B7EBDC"/>
                </a:solidFill>
                <a:latin typeface="Aptos"/>
              </a:rPr>
              <a:t>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4251960" cy="7772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Quais clientes têm maior propensão a cancelar?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46120"/>
            <a:ext cx="192024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1">
                <a:solidFill>
                  <a:srgbClr val="EF8B48"/>
                </a:solidFill>
                <a:latin typeface="Aptos"/>
              </a:rPr>
              <a:t>Uso pretendido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84448"/>
            <a:ext cx="4251960" cy="1234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Apoiar campanhas preventivas de retenção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Priorizar clientes para contato ou ofertas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Manter revisão humana sobre a 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B7EBDC"/>
          </a:solidFill>
          <a:ln>
            <a:solidFill>
              <a:srgbClr val="B7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2743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0E1D2F"/>
                </a:solidFill>
                <a:latin typeface="Aptos"/>
              </a:rPr>
              <a:t>MÉTRICAS E VALOR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429768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0E1D2F"/>
                </a:solidFill>
                <a:latin typeface="Aptos Display"/>
              </a:rPr>
              <a:t>ROC-AUC + recall de churn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80360"/>
            <a:ext cx="4297680" cy="1645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0E1D2F"/>
                </a:solidFill>
                <a:latin typeface="Aptos"/>
              </a:defRPr>
            </a:pPr>
            <a:r>
              <a:t>• ROC-AUC para seleção técnica</a:t>
            </a:r>
          </a:p>
          <a:p>
            <a:pPr>
              <a:spcAft>
                <a:spcPts val="500"/>
              </a:spcAft>
              <a:defRPr sz="1500">
                <a:solidFill>
                  <a:srgbClr val="0E1D2F"/>
                </a:solidFill>
                <a:latin typeface="Aptos"/>
              </a:defRPr>
            </a:pPr>
            <a:r>
              <a:t>• Recall para reduzir falsos negativos</a:t>
            </a:r>
          </a:p>
          <a:p>
            <a:pPr>
              <a:spcAft>
                <a:spcPts val="500"/>
              </a:spcAft>
              <a:defRPr sz="1500">
                <a:solidFill>
                  <a:srgbClr val="0E1D2F"/>
                </a:solidFill>
                <a:latin typeface="Aptos"/>
              </a:defRPr>
            </a:pPr>
            <a:r>
              <a:t>• Retenção mensal como KPI de negócio</a:t>
            </a:r>
          </a:p>
          <a:p>
            <a:pPr>
              <a:spcAft>
                <a:spcPts val="500"/>
              </a:spcAft>
              <a:defRPr sz="1500">
                <a:solidFill>
                  <a:srgbClr val="0E1D2F"/>
                </a:solidFill>
                <a:latin typeface="Aptos"/>
              </a:defRPr>
            </a:pPr>
            <a:r>
              <a:t>• Custo de abordagem versus custo de perda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166360"/>
            <a:ext cx="43891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1">
                <a:solidFill>
                  <a:srgbClr val="0E1D2F"/>
                </a:solidFill>
                <a:latin typeface="Aptos"/>
              </a:rPr>
              <a:t>O ML Canvas existe, mas precisa ser alinhado aos números e ao protocolo final do projeto.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009196"/>
                </a:solidFill>
                <a:latin typeface="Aptos"/>
              </a:rPr>
              <a:t>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1F2D3D"/>
                </a:solidFill>
                <a:latin typeface="Aptos Display"/>
              </a:rPr>
              <a:t>A EDA revela um problema de churn moderadamente desbalanceado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697885"/>
                </a:solidFill>
                <a:latin typeface="Aptos"/>
              </a:rPr>
              <a:t>FIAP Pós-Tech  |  Tech Challenge Fase 1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697885"/>
                </a:solidFill>
                <a:latin typeface="Aptos"/>
              </a:rPr>
              <a:t>Dataset Telco Customer Churn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009196"/>
                </a:solidFill>
                <a:latin typeface="Aptos Display"/>
              </a:rPr>
              <a:t>7.043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0">
                <a:solidFill>
                  <a:srgbClr val="697885"/>
                </a:solidFill>
                <a:latin typeface="Aptos"/>
              </a:rPr>
              <a:t>clientes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78308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5224" y="1938528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EF8B48"/>
                </a:solidFill>
                <a:latin typeface="Aptos Display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0">
                <a:solidFill>
                  <a:srgbClr val="697885"/>
                </a:solidFill>
                <a:latin typeface="Aptos"/>
              </a:rPr>
              <a:t>colunas brutas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78308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938528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009196"/>
                </a:solidFill>
                <a:latin typeface="Aptos Display"/>
              </a:rPr>
              <a:t>26,54%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0">
                <a:solidFill>
                  <a:srgbClr val="697885"/>
                </a:solidFill>
                <a:latin typeface="Aptos"/>
              </a:rPr>
              <a:t>churn observado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E0EFF3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56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Aptos"/>
              </a:rPr>
              <a:t>Padrões observados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86200"/>
            <a:ext cx="4526280" cy="1143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Churn: 17,98 meses de permanência média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Não churn: 37,57 meses de permanência média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Contrato mensal: 42,71% de churn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Contrato de dois anos: 2,83% de churn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5468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FCE8D5"/>
          </a:solidFill>
          <a:ln>
            <a:solidFill>
              <a:srgbClr val="FCE8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456432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Aptos"/>
              </a:rPr>
              <a:t>Qualidade e cuidados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86200"/>
            <a:ext cx="4526280" cy="1143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TotalCharges precisa ser convertido para numérico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customerID é removido do treinamento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Relações são descritivas, não causais</a:t>
            </a:r>
          </a:p>
          <a:p>
            <a:pPr>
              <a:spcAft>
                <a:spcPts val="500"/>
              </a:spcAft>
              <a:defRPr sz="1400">
                <a:solidFill>
                  <a:srgbClr val="1F2D3D"/>
                </a:solidFill>
                <a:latin typeface="Aptos"/>
              </a:defRPr>
            </a:pPr>
            <a:r>
              <a:t>• Notebook tem caminho absoluto e célula com erro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B7EBDC"/>
                </a:solidFill>
                <a:latin typeface="Aptos"/>
              </a:rPr>
              <a:t>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O pré-processamento foi encapsulado no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B7EBDC"/>
                </a:solidFill>
                <a:latin typeface="Aptos"/>
              </a:rPr>
              <a:t>FIAP Pós-Tech  |  Tech Challenge Fase 1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B7EBDC"/>
                </a:solidFill>
                <a:latin typeface="Aptos"/>
              </a:rPr>
              <a:t>Fluxo de treinamento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1755648" cy="141732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04288"/>
            <a:ext cx="1536192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009196"/>
                </a:solidFill>
                <a:latin typeface="Aptos"/>
              </a:rPr>
              <a:t>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24912"/>
            <a:ext cx="1536192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dados brutos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8" y="2542032"/>
            <a:ext cx="32004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300" b="1">
                <a:solidFill>
                  <a:srgbClr val="B7EBDC"/>
                </a:solidFill>
                <a:latin typeface="Aptos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057400"/>
            <a:ext cx="1755648" cy="141732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2304288"/>
            <a:ext cx="1536192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EF8B48"/>
                </a:solidFill>
                <a:latin typeface="Aptos"/>
              </a:rPr>
              <a:t>Limpeza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724912"/>
            <a:ext cx="1536192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TotalCharges
+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542032"/>
            <a:ext cx="32004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300" b="1">
                <a:solidFill>
                  <a:srgbClr val="B7EBDC"/>
                </a:solidFill>
                <a:latin typeface="Aptos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0" y="2057400"/>
            <a:ext cx="1755648" cy="141732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6088" y="2304288"/>
            <a:ext cx="1536192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009196"/>
                </a:solidFill>
                <a:latin typeface="Aptos"/>
              </a:rPr>
              <a:t>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2724912"/>
            <a:ext cx="1536192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70 / 30
estratificado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2542032"/>
            <a:ext cx="32004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300" b="1">
                <a:solidFill>
                  <a:srgbClr val="B7EBDC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057400"/>
            <a:ext cx="1755648" cy="141732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16368" y="2304288"/>
            <a:ext cx="1536192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EF8B48"/>
                </a:solidFill>
                <a:latin typeface="Aptos"/>
              </a:rPr>
              <a:t>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2724912"/>
            <a:ext cx="1536192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imputação
+ encoding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542032"/>
            <a:ext cx="32004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300" b="1">
                <a:solidFill>
                  <a:srgbClr val="B7EBDC"/>
                </a:solidFill>
                <a:latin typeface="Aptos"/>
              </a:rP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46920" y="2057400"/>
            <a:ext cx="1755648" cy="141732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6648" y="2304288"/>
            <a:ext cx="1536192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009196"/>
                </a:solidFill>
                <a:latin typeface="Aptos"/>
              </a:rPr>
              <a:t>Modelo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6648" y="2724912"/>
            <a:ext cx="1536192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RF / MLP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16052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B7EBDC"/>
          </a:solidFill>
          <a:ln>
            <a:solidFill>
              <a:srgbClr val="B7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416552"/>
            <a:ext cx="123444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0E1D2F"/>
                </a:solidFill>
                <a:latin typeface="Aptos"/>
              </a:rPr>
              <a:t>Validação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370832"/>
            <a:ext cx="356616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0E1D2F"/>
                </a:solidFill>
                <a:latin typeface="Aptos"/>
              </a:rPr>
              <a:t>5 folds com ROC-AUC e pré-processamento ajustado dentro do Pipeline, reduzindo risco de vazamento.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1605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4B3030"/>
          </a:solidFill>
          <a:ln>
            <a:solidFill>
              <a:srgbClr val="BC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16552"/>
            <a:ext cx="105156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CE8D5"/>
                </a:solidFill>
                <a:latin typeface="Aptos"/>
              </a:rPr>
              <a:t>Escolha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370832"/>
            <a:ext cx="388620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MLP vence por apenas 0,0004 em ROC-AUC médio; a diferença não demonstra superioridade prática clara.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009196"/>
                </a:solidFill>
                <a:latin typeface="Aptos"/>
              </a:rPr>
              <a:t>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1F2D3D"/>
                </a:solidFill>
                <a:latin typeface="Aptos Display"/>
              </a:rPr>
              <a:t>A decisão do modelo depende do objetivo da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697885"/>
                </a:solidFill>
                <a:latin typeface="Aptos"/>
              </a:rPr>
              <a:t>FIAP Pós-Tech  |  Tech Challenge Fase 1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697885"/>
                </a:solidFill>
                <a:latin typeface="Aptos"/>
              </a:rPr>
              <a:t>Validação cruzada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743200" cy="502920"/>
          </a:xfrm>
          <a:prstGeom prst="rect">
            <a:avLst/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1975104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Modelo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011680" cy="502920"/>
          </a:xfrm>
          <a:prstGeom prst="rect">
            <a:avLst/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975104"/>
            <a:ext cx="186537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ROC-AUC CV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828800"/>
            <a:ext cx="1920240" cy="502920"/>
          </a:xfrm>
          <a:prstGeom prst="rect">
            <a:avLst/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197510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828800"/>
            <a:ext cx="1920240" cy="502920"/>
          </a:xfrm>
          <a:prstGeom prst="rect">
            <a:avLst/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352" y="197510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828800"/>
            <a:ext cx="1920240" cy="502920"/>
          </a:xfrm>
          <a:prstGeom prst="rect">
            <a:avLst/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197510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59152"/>
            <a:ext cx="274320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1" y="2505456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1F2D3D"/>
                </a:solidFill>
                <a:latin typeface="Aptos"/>
              </a:rPr>
              <a:t>MLP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359152"/>
            <a:ext cx="2011680" cy="530352"/>
          </a:xfrm>
          <a:prstGeom prst="rect">
            <a:avLst/>
          </a:prstGeom>
          <a:solidFill>
            <a:srgbClr val="B7EBDC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2505456"/>
            <a:ext cx="186537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1F2D3D"/>
                </a:solidFill>
                <a:latin typeface="Aptos"/>
              </a:rPr>
              <a:t>0,8481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359152"/>
            <a:ext cx="19202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68112" y="2505456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0">
                <a:solidFill>
                  <a:srgbClr val="1F2D3D"/>
                </a:solidFill>
                <a:latin typeface="Aptos"/>
              </a:rPr>
              <a:t>0,7948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359152"/>
            <a:ext cx="19202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2505456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0">
                <a:solidFill>
                  <a:srgbClr val="1F2D3D"/>
                </a:solidFill>
                <a:latin typeface="Aptos"/>
              </a:rPr>
              <a:t>0,5223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2359152"/>
            <a:ext cx="19202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2505456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0">
                <a:solidFill>
                  <a:srgbClr val="1F2D3D"/>
                </a:solidFill>
                <a:latin typeface="Aptos"/>
              </a:rPr>
              <a:t>0,5751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926080"/>
            <a:ext cx="274320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1" y="3072384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1F2D3D"/>
                </a:solidFill>
                <a:latin typeface="Aptos"/>
              </a:rPr>
              <a:t>Random Forest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926080"/>
            <a:ext cx="201168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6432" y="3072384"/>
            <a:ext cx="186537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0">
                <a:solidFill>
                  <a:srgbClr val="1F2D3D"/>
                </a:solidFill>
                <a:latin typeface="Aptos"/>
              </a:rPr>
              <a:t>0,8477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2926080"/>
            <a:ext cx="1920240" cy="530352"/>
          </a:xfrm>
          <a:prstGeom prst="rect">
            <a:avLst/>
          </a:prstGeom>
          <a:solidFill>
            <a:srgbClr val="FFFFF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8112" y="307238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0">
                <a:solidFill>
                  <a:srgbClr val="1F2D3D"/>
                </a:solidFill>
                <a:latin typeface="Aptos"/>
              </a:rPr>
              <a:t>0,7502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2926080"/>
            <a:ext cx="1920240" cy="530352"/>
          </a:xfrm>
          <a:prstGeom prst="rect">
            <a:avLst/>
          </a:prstGeom>
          <a:solidFill>
            <a:srgbClr val="B7EBDC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8352" y="307238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1F2D3D"/>
                </a:solidFill>
                <a:latin typeface="Aptos"/>
              </a:rPr>
              <a:t>0,7790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2926080"/>
            <a:ext cx="1920240" cy="530352"/>
          </a:xfrm>
          <a:prstGeom prst="rect">
            <a:avLst/>
          </a:prstGeom>
          <a:solidFill>
            <a:srgbClr val="B7EBDC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8592" y="3072384"/>
            <a:ext cx="1773936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1F2D3D"/>
                </a:solidFill>
                <a:latin typeface="Aptos"/>
              </a:rPr>
              <a:t>0,6238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947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009196"/>
                </a:solidFill>
                <a:latin typeface="Aptos"/>
              </a:rPr>
              <a:t>Leitura para o negócio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187952"/>
            <a:ext cx="6675120" cy="1234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D3D"/>
                </a:solidFill>
                <a:latin typeface="Aptos"/>
              </a:defRPr>
            </a:pPr>
            <a:r>
              <a:t>• MLP: mais accuracy e precision; menos recall</a:t>
            </a:r>
          </a:p>
          <a:p>
            <a:pPr>
              <a:spcAft>
                <a:spcPts val="500"/>
              </a:spcAft>
              <a:defRPr sz="1500">
                <a:solidFill>
                  <a:srgbClr val="1F2D3D"/>
                </a:solidFill>
                <a:latin typeface="Aptos"/>
              </a:defRPr>
            </a:pPr>
            <a:r>
              <a:t>• Random Forest: identifica mais clientes que podem cancelar</a:t>
            </a:r>
          </a:p>
          <a:p>
            <a:pPr>
              <a:spcAft>
                <a:spcPts val="500"/>
              </a:spcAft>
              <a:defRPr sz="1500">
                <a:solidFill>
                  <a:srgbClr val="1F2D3D"/>
                </a:solidFill>
                <a:latin typeface="Aptos"/>
              </a:defRPr>
            </a:pPr>
            <a:r>
              <a:t>• A regra técnica escolhe MLP, mas a regra operacional pode preferir RF</a:t>
            </a:r>
          </a:p>
          <a:p>
            <a:pPr>
              <a:spcAft>
                <a:spcPts val="500"/>
              </a:spcAft>
              <a:defRPr sz="1500">
                <a:solidFill>
                  <a:srgbClr val="1F2D3D"/>
                </a:solidFill>
                <a:latin typeface="Aptos"/>
              </a:defRPr>
            </a:pPr>
            <a:r>
              <a:t>• Próximo passo: calibrar threshold com custos reais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0" y="379476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8D5"/>
          </a:solidFill>
          <a:ln>
            <a:solidFill>
              <a:srgbClr val="FCE8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4096512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1">
                <a:solidFill>
                  <a:srgbClr val="EF8B48"/>
                </a:solidFill>
                <a:latin typeface="Aptos"/>
              </a:rPr>
              <a:t>Resultado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462272"/>
            <a:ext cx="2651760" cy="548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1F2D3D"/>
                </a:solidFill>
                <a:latin typeface="Aptos Display"/>
              </a:rPr>
              <a:t>MLP selecionada
para a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B7EBDC"/>
                </a:solidFill>
                <a:latin typeface="Aptos"/>
              </a:rPr>
              <a:t>ETAPA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A API transforma o modelo em um serviço consumível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B7EBDC"/>
                </a:solidFill>
                <a:latin typeface="Aptos"/>
              </a:rPr>
              <a:t>FIAP Pós-Tech  |  Tech Challenge Fase 1  |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2926080" cy="402336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B7EBDC"/>
                </a:solidFill>
                <a:latin typeface="Aptos"/>
              </a:rPr>
              <a:t>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2286000" cy="5943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Payload JSON
com dados do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EF8B48"/>
                </a:solidFill>
                <a:latin typeface="Aptos"/>
              </a:rPr>
              <a:t>Bearer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2286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B7EBDC"/>
                </a:solidFill>
                <a:latin typeface="Aptos"/>
              </a:rPr>
              <a:t>Swagger / outros sistemas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246120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800" b="1">
                <a:solidFill>
                  <a:srgbClr val="EF8B48"/>
                </a:solidFill>
                <a:latin typeface="Aptos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08760"/>
            <a:ext cx="2971800" cy="4023360"/>
          </a:xfrm>
          <a:prstGeom prst="roundRect">
            <a:avLst>
              <a:gd name="adj" fmla="val 8000"/>
            </a:avLst>
          </a:prstGeom>
          <a:solidFill>
            <a:srgbClr val="B7EBDC"/>
          </a:solidFill>
          <a:ln>
            <a:solidFill>
              <a:srgbClr val="B7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182880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0E1D2F"/>
                </a:solidFill>
                <a:latin typeface="Aptos"/>
              </a:rPr>
              <a:t>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256032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0E1D2F"/>
                </a:solidFill>
                <a:latin typeface="Aptos"/>
              </a:rPr>
              <a:t>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15468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0E1D2F"/>
                </a:solidFill>
                <a:latin typeface="Aptos"/>
              </a:rPr>
              <a:t>/auth/login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3749039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0E1D2F"/>
                </a:solidFill>
                <a:latin typeface="Aptos"/>
              </a:rPr>
              <a:t>/predict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709160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0E1D2F"/>
                </a:solidFill>
                <a:latin typeface="Aptos"/>
              </a:rPr>
              <a:t>schemas + dependências + routers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46120"/>
            <a:ext cx="41148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800" b="1">
                <a:solidFill>
                  <a:srgbClr val="EF8B48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508760"/>
            <a:ext cx="2971800" cy="4023360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182880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100" b="1">
                <a:solidFill>
                  <a:srgbClr val="FCE8D5"/>
                </a:solidFill>
                <a:latin typeface="Aptos"/>
              </a:rPr>
              <a:t>RESPOSTA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6060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971800"/>
            <a:ext cx="2286000" cy="38404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400" b="1">
                <a:solidFill>
                  <a:srgbClr val="EF8B48"/>
                </a:solidFill>
                <a:latin typeface="Aptos Display"/>
              </a:rPr>
              <a:t>Yes / 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84048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Probabilidade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4224528"/>
            <a:ext cx="2286000" cy="384048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400" b="1">
                <a:solidFill>
                  <a:srgbClr val="B7EBDC"/>
                </a:solidFill>
                <a:latin typeface="Aptos Display"/>
              </a:rPr>
              <a:t>0,6871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009196"/>
                </a:solidFill>
                <a:latin typeface="Aptos"/>
              </a:rPr>
              <a:t>ETAPA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1F2D3D"/>
                </a:solidFill>
                <a:latin typeface="Aptos Display"/>
              </a:rPr>
              <a:t>A documentação registra desempenho, limites e uso responsável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697885"/>
                </a:solidFill>
                <a:latin typeface="Aptos"/>
              </a:rPr>
              <a:t>FIAP Pós-Tech  |  Tech Challenge Fase 1  |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56232"/>
            <a:ext cx="109728" cy="438912"/>
          </a:xfrm>
          <a:prstGeom prst="rect">
            <a:avLst/>
          </a:prstGeom>
          <a:solidFill>
            <a:srgbClr val="009196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Aptos Display"/>
              </a:rPr>
              <a:t>Model 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56232"/>
            <a:ext cx="726948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697885"/>
                </a:solidFill>
                <a:latin typeface="Aptos"/>
              </a:rPr>
              <a:t>objetivo, dados, métricas, vieses, segurança e monitoramento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3182112"/>
            <a:ext cx="109728" cy="438912"/>
          </a:xfrm>
          <a:prstGeom prst="rect">
            <a:avLst/>
          </a:prstGeom>
          <a:solidFill>
            <a:srgbClr val="EF8B48"/>
          </a:solidFill>
          <a:ln>
            <a:solidFill>
              <a:srgbClr val="EF8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Aptos Display"/>
              </a:rPr>
              <a:t>README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82112"/>
            <a:ext cx="726948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697885"/>
                </a:solidFill>
                <a:latin typeface="Aptos"/>
              </a:rPr>
              <a:t>instalação, treinamento, endpoints, exemplo de payload e 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0E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4507992"/>
            <a:ext cx="109728" cy="438912"/>
          </a:xfrm>
          <a:prstGeom prst="rect">
            <a:avLst/>
          </a:prstGeom>
          <a:solidFill>
            <a:srgbClr val="009196"/>
          </a:solidFill>
          <a:ln>
            <a:solidFill>
              <a:srgbClr val="0091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8056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Aptos Display"/>
              </a:rPr>
              <a:t>Roteiro STAR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507992"/>
            <a:ext cx="726948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697885"/>
                </a:solidFill>
                <a:latin typeface="Aptos"/>
              </a:rPr>
              <a:t>estrutura de até 5 minutos para explicar a solução e demonstrar a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744200" cy="530352"/>
          </a:xfrm>
          <a:prstGeom prst="roundRect">
            <a:avLst>
              <a:gd name="adj" fmla="val 8000"/>
            </a:avLst>
          </a:prstGeom>
          <a:solidFill>
            <a:srgbClr val="FCE8D5"/>
          </a:solidFill>
          <a:ln>
            <a:solidFill>
              <a:srgbClr val="FCE8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88152"/>
            <a:ext cx="10149840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1F2D3D"/>
                </a:solidFill>
                <a:latin typeface="Aptos"/>
              </a:rPr>
              <a:t>A documentação está mais madura que a execução local: os artefatos `.joblib`, dependências instaladas e vídeo ainda precisam ser finalizados.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B7EBDC"/>
                </a:solidFill>
                <a:latin typeface="Aptos"/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Seis ações fecham as lacunas da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B7EBDC"/>
                </a:solidFill>
                <a:latin typeface="Aptos"/>
              </a:rPr>
              <a:t>FIAP Pós-Tech  |  Tech Challenge Fase 1  |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46504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91639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Alinhar o ML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39112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corrigir split, métricas e meta de negócio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08760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746504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691639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Consolidar o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39112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incluir Logistic Regression no relatório modular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62072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099815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044952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Preparar o ambiente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392424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instalar dependências e executar pytest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862072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3099815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044952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Gerar artefatos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392424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treinar e validar model.joblib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215383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4453127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98264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Ampliar testes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745736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cobrir login inválido e /predict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215383"/>
            <a:ext cx="5074920" cy="987552"/>
          </a:xfrm>
          <a:prstGeom prst="roundRect">
            <a:avLst>
              <a:gd name="adj" fmla="val 8000"/>
            </a:avLst>
          </a:prstGeom>
          <a:solidFill>
            <a:srgbClr val="162E44"/>
          </a:solidFill>
          <a:ln>
            <a:solidFill>
              <a:srgbClr val="315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56832" y="4453127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700" b="1">
                <a:solidFill>
                  <a:srgbClr val="EF8B48"/>
                </a:solidFill>
                <a:latin typeface="Aptos Display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398264"/>
            <a:ext cx="3566160" cy="25603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Finalizar vídeo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745736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B7EBDC"/>
                </a:solidFill>
                <a:latin typeface="Aptos"/>
              </a:rPr>
              <a:t>gravar, revisar e anexar o STAR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715000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B7EBDC"/>
                </a:solidFill>
                <a:latin typeface="Aptos"/>
              </a:rPr>
              <a:t>Critério de pronto: projeto reproduzível, API demonstrável e narrativa de negócio consistente.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000" b="1">
                <a:solidFill>
                  <a:srgbClr val="009196"/>
                </a:solidFill>
                <a:latin typeface="Apto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07040" cy="5029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800" b="1">
                <a:solidFill>
                  <a:srgbClr val="1F2D3D"/>
                </a:solidFill>
                <a:latin typeface="Aptos Display"/>
              </a:rPr>
              <a:t>A solução já tem forma de produto; falta fechar a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6510528"/>
            <a:ext cx="3977639" cy="1828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900" b="0">
                <a:solidFill>
                  <a:srgbClr val="697885"/>
                </a:solidFill>
                <a:latin typeface="Aptos"/>
              </a:rPr>
              <a:t>FIAP Pós-Tech  |  Tech Challenge Fase 1  |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6583680" cy="4160520"/>
          </a:xfrm>
          <a:prstGeom prst="roundRect">
            <a:avLst>
              <a:gd name="adj" fmla="val 8000"/>
            </a:avLst>
          </a:prstGeom>
          <a:solidFill>
            <a:srgbClr val="0E1D2F"/>
          </a:solidFill>
          <a:ln>
            <a:solidFill>
              <a:srgbClr val="0E1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2743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B7EBDC"/>
                </a:solidFill>
                <a:latin typeface="Aptos"/>
              </a:rPr>
              <a:t>ENTREGUE ATÉ AQUI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539496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EDA documentada e achados de negócio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Pipelines de pré-processamento reprodutíveis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Random Forest e MLP comparadas por CV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API FastAPI modular com autenticação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• Model Card, README e roteiro 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892040"/>
            <a:ext cx="539496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EF8B48"/>
                </a:solidFill>
                <a:latin typeface="Aptos"/>
              </a:rPr>
              <a:t>Status: base técnica sólida, entrega final ainda parcial.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463040"/>
            <a:ext cx="3749039" cy="4160520"/>
          </a:xfrm>
          <a:prstGeom prst="roundRect">
            <a:avLst>
              <a:gd name="adj" fmla="val 8000"/>
            </a:avLst>
          </a:prstGeom>
          <a:solidFill>
            <a:srgbClr val="B7EBDC"/>
          </a:solidFill>
          <a:ln>
            <a:solidFill>
              <a:srgbClr val="B7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10512"/>
            <a:ext cx="283464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0E1D2F"/>
                </a:solidFill>
                <a:latin typeface="Aptos"/>
              </a:rPr>
              <a:t>MENSAGEM 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2971800" cy="9601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500" b="1">
                <a:solidFill>
                  <a:srgbClr val="0E1D2F"/>
                </a:solidFill>
                <a:latin typeface="Aptos Display"/>
              </a:rPr>
              <a:t>A melhor decisão não é apenas o maior ROC-AUC.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703320"/>
            <a:ext cx="2880360" cy="7772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0">
                <a:solidFill>
                  <a:srgbClr val="0E1D2F"/>
                </a:solidFill>
                <a:latin typeface="Aptos"/>
              </a:rPr>
              <a:t>É o modelo e o threshold que melhor equilibram retenção, custo de abordagem e revisão humana.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10912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009196"/>
                </a:solidFill>
                <a:latin typeface="Aptos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